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DFB8A-FD0E-CC50-6882-9CCF25E0C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1B6D69-AC13-AFF6-B75E-D5B635E466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5A6AF-DC0C-9DF8-E44A-7D894D820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C2C5D-BE4D-4606-B9EB-114D8234CF21}" type="datetimeFigureOut">
              <a:rPr lang="en-ZA" smtClean="0"/>
              <a:t>2026/06/15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53AA7-2712-B387-DDB1-159D70F33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598AF-A5CB-5E1B-D55E-74B7776E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21B7-2194-41ED-8835-971E5D6F1AB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18486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B4D50-56ED-442A-FF8E-C527BD858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0713C-26A7-CFCE-E9BD-4B233ED2A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C0F31-16F5-210B-176D-1553FB75C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C2C5D-BE4D-4606-B9EB-114D8234CF21}" type="datetimeFigureOut">
              <a:rPr lang="en-ZA" smtClean="0"/>
              <a:t>2026/06/15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E107D-6BAD-FBF5-073E-8A00BCA5A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F77A5-7085-265C-4DF7-03D49176C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21B7-2194-41ED-8835-971E5D6F1AB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99547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D37C-D245-4006-32F5-AEC4E53E0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4C587-5526-253F-3218-CE151D363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6D991-DB7B-425F-4265-0ABAB45B1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C2C5D-BE4D-4606-B9EB-114D8234CF21}" type="datetimeFigureOut">
              <a:rPr lang="en-ZA" smtClean="0"/>
              <a:t>2026/06/15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20C77-D3C7-1C96-A829-D08AC88B6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AFABA-0904-D3BE-976C-139F9B743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21B7-2194-41ED-8835-971E5D6F1AB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63949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0EA08-343A-D253-30A6-E06528E5E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4BDD5-1FA1-64FF-FDF7-CD946D62BA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658A30-DE34-6249-1727-33C380C541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B22770-EB0B-A5CA-E49B-13251C71A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C2C5D-BE4D-4606-B9EB-114D8234CF21}" type="datetimeFigureOut">
              <a:rPr lang="en-ZA" smtClean="0"/>
              <a:t>2026/06/15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7CF46A-C510-6C16-0AF3-98B171CAC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5F293-7ECC-F7E3-754C-B5722EB6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21B7-2194-41ED-8835-971E5D6F1AB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63139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66A14-2727-D223-1D04-8F89A7BBA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EC70A-8504-520E-674B-9B7036A00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C0B11-0878-7578-6548-08EF1CE7A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8B234-AB62-25D8-D1DB-AAE06FC197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D461E1-8166-2167-67DB-9BDEC399E8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9B14B8-C3FB-AAE1-2CD8-D7A7FC02C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C2C5D-BE4D-4606-B9EB-114D8234CF21}" type="datetimeFigureOut">
              <a:rPr lang="en-ZA" smtClean="0"/>
              <a:t>2026/06/15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68418D-C6BF-6FDF-2E48-9970FDDA9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B6283C-4367-D579-6AAB-AFA9B8C74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21B7-2194-41ED-8835-971E5D6F1AB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1056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7888B-289F-7040-DC31-816AB83FE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C485D2-77C2-D860-202E-9941D4631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C2C5D-BE4D-4606-B9EB-114D8234CF21}" type="datetimeFigureOut">
              <a:rPr lang="en-ZA" smtClean="0"/>
              <a:t>2026/06/15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8EDEC6-B2FA-7827-120C-982F18D97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DA48CA-1C62-070A-C617-FC5D5584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21B7-2194-41ED-8835-971E5D6F1AB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84137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AA5CEB-B8C6-CD12-30D2-5ADB2618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C2C5D-BE4D-4606-B9EB-114D8234CF21}" type="datetimeFigureOut">
              <a:rPr lang="en-ZA" smtClean="0"/>
              <a:t>2026/06/15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BCE666-2465-B0F6-C8B7-60742D10E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091CA-D1E2-BD8C-615B-89AB7E275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21B7-2194-41ED-8835-971E5D6F1AB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6980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5BAC8-4AA3-9AEF-C65B-30063078A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FBE2F-E4A8-EF0D-0AED-52E2A0127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5AAF4-3631-CD9E-E332-033FFB5AA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98793-7C5A-75A0-6D75-F52A72461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C2C5D-BE4D-4606-B9EB-114D8234CF21}" type="datetimeFigureOut">
              <a:rPr lang="en-ZA" smtClean="0"/>
              <a:t>2026/06/15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A5ADB-5268-F83C-210D-05384AA6C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6FE4B-4CBF-6DEF-C029-645888018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21B7-2194-41ED-8835-971E5D6F1AB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91651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86DD5-16AD-9740-3C97-B12AA4A40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CDF34E-0ACB-9500-67E4-C75294CCFC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020D5-A4DC-42C9-90EB-14A39B960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D26B6-75FD-F60C-EF46-A426E9660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C2C5D-BE4D-4606-B9EB-114D8234CF21}" type="datetimeFigureOut">
              <a:rPr lang="en-ZA" smtClean="0"/>
              <a:t>2026/06/15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644C9-CCAB-A255-4C85-64EA4322A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8D4DDF-FEFA-CFE9-F8E8-C3C5B8334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21B7-2194-41ED-8835-971E5D6F1AB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52294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70B0A-3D3F-C985-3EB1-6D2BF10C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E23730-D962-C126-EC18-F5A8E0045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70328-433C-7CCC-0C36-DB45D4178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C2C5D-BE4D-4606-B9EB-114D8234CF21}" type="datetimeFigureOut">
              <a:rPr lang="en-ZA" smtClean="0"/>
              <a:t>2026/06/15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C870F-9197-4217-50FD-D28BE8D1E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BEF9D-C4D4-47A6-FDA2-E71B2BAD0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21B7-2194-41ED-8835-971E5D6F1AB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6456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68ACB1-4AD8-183A-8699-DF1CA30FBB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23640F-A09F-92DC-1D5D-702E271B16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EB574-1088-2ADA-2C78-AA21D3E4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C2C5D-BE4D-4606-B9EB-114D8234CF21}" type="datetimeFigureOut">
              <a:rPr lang="en-ZA" smtClean="0"/>
              <a:t>2026/06/15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7F117-6F8D-FD8E-1D1E-AF644DE5A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A223F-DBB0-10A6-307D-804E77366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21B7-2194-41ED-8835-971E5D6F1AB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3395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389A1E-A7FD-734E-52E0-01D13B458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5D1BD-9505-D9B2-C1B2-F6E7B14C7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656BA-4717-3408-3E9F-7B7B0EB372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3C2C5D-BE4D-4606-B9EB-114D8234CF21}" type="datetimeFigureOut">
              <a:rPr lang="en-ZA" smtClean="0"/>
              <a:t>2026/06/15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582A6-01A8-ABEF-3C9C-0931BEB6E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99F0C-C104-5A9C-EB77-A86DBBDBAE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B321B7-2194-41ED-8835-971E5D6F1AB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2696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BDDFA-1D85-BEA2-43F4-A91376127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DBB36ECF-4EBA-2344-00A7-360809909D8C}"/>
              </a:ext>
            </a:extLst>
          </p:cNvPr>
          <p:cNvSpPr/>
          <p:nvPr/>
        </p:nvSpPr>
        <p:spPr>
          <a:xfrm>
            <a:off x="4595286" y="973393"/>
            <a:ext cx="393290" cy="37918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000" dirty="0"/>
              <a:t>QA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F5F003-A29F-AFB8-28D8-51AC7210A41F}"/>
              </a:ext>
            </a:extLst>
          </p:cNvPr>
          <p:cNvSpPr txBox="1"/>
          <p:nvPr/>
        </p:nvSpPr>
        <p:spPr>
          <a:xfrm>
            <a:off x="3276658" y="49499"/>
            <a:ext cx="6180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600" b="1" dirty="0">
                <a:latin typeface="+mj-lt"/>
              </a:rPr>
              <a:t>GA 11 – Project Management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AB057B-2B8D-FBA9-287F-4E3A37E3849D}"/>
              </a:ext>
            </a:extLst>
          </p:cNvPr>
          <p:cNvSpPr txBox="1"/>
          <p:nvPr/>
        </p:nvSpPr>
        <p:spPr>
          <a:xfrm>
            <a:off x="5761701" y="729920"/>
            <a:ext cx="3136753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b="1" dirty="0"/>
              <a:t>Project Planning</a:t>
            </a:r>
            <a:endParaRPr lang="en-ZA" dirty="0"/>
          </a:p>
          <a:p>
            <a:r>
              <a:rPr lang="en-ZA" sz="1600" dirty="0">
                <a:solidFill>
                  <a:srgbClr val="7030A0"/>
                </a:solidFill>
                <a:latin typeface="Agency FB" panose="020B0503020202020204" pitchFamily="34" charset="0"/>
              </a:rPr>
              <a:t>(demonstrates complex project planning)</a:t>
            </a:r>
            <a:endParaRPr lang="en-Z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700" dirty="0"/>
              <a:t>Internal project schedule and milestones were established via Gantt Chart.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91D887-A80C-FAE9-3A7D-C121722C74C2}"/>
              </a:ext>
            </a:extLst>
          </p:cNvPr>
          <p:cNvSpPr txBox="1"/>
          <p:nvPr/>
        </p:nvSpPr>
        <p:spPr>
          <a:xfrm>
            <a:off x="353701" y="729920"/>
            <a:ext cx="293984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b="1" dirty="0"/>
              <a:t>Task Allocation</a:t>
            </a:r>
          </a:p>
          <a:p>
            <a:r>
              <a:rPr lang="en-ZA" sz="1600" dirty="0">
                <a:solidFill>
                  <a:srgbClr val="0070C0"/>
                </a:solidFill>
                <a:latin typeface="Agency FB" panose="020B0503020202020204" pitchFamily="34" charset="0"/>
              </a:rPr>
              <a:t>(demonstrates task breakdown and responsibility allocation)</a:t>
            </a:r>
            <a:endParaRPr lang="en-ZA" sz="16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700" dirty="0"/>
              <a:t>Individual tasks were allocated to each member.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700" dirty="0"/>
              <a:t>A Quality Assurance Manager was assigned for each submission.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4F568D-190C-3BAC-4DAA-3AB7A252B6EB}"/>
              </a:ext>
            </a:extLst>
          </p:cNvPr>
          <p:cNvSpPr txBox="1"/>
          <p:nvPr/>
        </p:nvSpPr>
        <p:spPr>
          <a:xfrm>
            <a:off x="5761702" y="2730468"/>
            <a:ext cx="3529779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b="1" dirty="0"/>
              <a:t>Coordination</a:t>
            </a:r>
          </a:p>
          <a:p>
            <a:r>
              <a:rPr lang="en-ZA" sz="1600" dirty="0">
                <a:solidFill>
                  <a:srgbClr val="00B050"/>
                </a:solidFill>
                <a:latin typeface="Agency FB" panose="020B0503020202020204" pitchFamily="34" charset="0"/>
              </a:rPr>
              <a:t>(demonstrates integration and inter-task relationships)</a:t>
            </a:r>
            <a:endParaRPr lang="en-ZA" sz="1600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700" dirty="0"/>
              <a:t>Weekly meetings were held on Teams with rotating chairs.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700" dirty="0"/>
              <a:t>The WBS was created and regularly updated to ensure all sections were on track.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700" dirty="0"/>
              <a:t>The team leader communicated project feedback to the group via WhatsApp.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700" dirty="0"/>
              <a:t>Members discussed common tasks, both in meetings and online.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A64266-3E16-F845-AF21-749740AB3E57}"/>
              </a:ext>
            </a:extLst>
          </p:cNvPr>
          <p:cNvSpPr txBox="1"/>
          <p:nvPr/>
        </p:nvSpPr>
        <p:spPr>
          <a:xfrm>
            <a:off x="240631" y="3253688"/>
            <a:ext cx="257139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b="1" dirty="0"/>
              <a:t>Monitoring</a:t>
            </a:r>
            <a:endParaRPr lang="en-ZA" dirty="0"/>
          </a:p>
          <a:p>
            <a:r>
              <a:rPr lang="en-ZA" sz="1600" dirty="0">
                <a:solidFill>
                  <a:srgbClr val="FF0000"/>
                </a:solidFill>
                <a:latin typeface="Agency FB" panose="020B0503020202020204" pitchFamily="34" charset="0"/>
              </a:rPr>
              <a:t>(demonstrates project control and documentation)</a:t>
            </a:r>
            <a:endParaRPr lang="en-ZA" sz="16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700" dirty="0"/>
              <a:t>The project/team risks were assessed and updated weekly.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700" dirty="0"/>
              <a:t>The Quality Assurance Manager signed off on all work within a milestone prior to its submission.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94F6C6E-FCB1-83E2-9609-35F072660EAF}"/>
              </a:ext>
            </a:extLst>
          </p:cNvPr>
          <p:cNvSpPr/>
          <p:nvPr/>
        </p:nvSpPr>
        <p:spPr>
          <a:xfrm>
            <a:off x="4317394" y="1730693"/>
            <a:ext cx="949073" cy="38345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000" b="1" dirty="0">
                <a:solidFill>
                  <a:schemeClr val="tx1"/>
                </a:solidFill>
              </a:rPr>
              <a:t>Member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D8090A6-2DE3-698E-9969-77573D8E83F4}"/>
              </a:ext>
            </a:extLst>
          </p:cNvPr>
          <p:cNvSpPr/>
          <p:nvPr/>
        </p:nvSpPr>
        <p:spPr>
          <a:xfrm>
            <a:off x="3169346" y="1730693"/>
            <a:ext cx="949073" cy="38345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000" b="1" dirty="0">
                <a:solidFill>
                  <a:schemeClr val="tx1"/>
                </a:solidFill>
              </a:rPr>
              <a:t>Member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06C041E-A146-F919-8C92-3124728E5868}"/>
              </a:ext>
            </a:extLst>
          </p:cNvPr>
          <p:cNvSpPr/>
          <p:nvPr/>
        </p:nvSpPr>
        <p:spPr>
          <a:xfrm>
            <a:off x="3746090" y="1037303"/>
            <a:ext cx="949073" cy="383458"/>
          </a:xfrm>
          <a:prstGeom prst="ellipse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000" b="1" dirty="0">
                <a:solidFill>
                  <a:schemeClr val="tx1"/>
                </a:solidFill>
              </a:rPr>
              <a:t>Member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E34358-9AAC-3F01-0062-17689802587A}"/>
              </a:ext>
            </a:extLst>
          </p:cNvPr>
          <p:cNvSpPr/>
          <p:nvPr/>
        </p:nvSpPr>
        <p:spPr>
          <a:xfrm>
            <a:off x="3276658" y="2311012"/>
            <a:ext cx="746931" cy="73866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050" b="1" dirty="0"/>
              <a:t>Control Concept Plan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FB5A03-6A81-741D-A01A-28DB789A2B17}"/>
              </a:ext>
            </a:extLst>
          </p:cNvPr>
          <p:cNvSpPr/>
          <p:nvPr/>
        </p:nvSpPr>
        <p:spPr>
          <a:xfrm>
            <a:off x="4407759" y="2313793"/>
            <a:ext cx="768342" cy="73866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050" b="1" dirty="0"/>
              <a:t>SCADA Concept Plan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4CE6E2F-31EE-9E91-CDAB-A79550FC2CBF}"/>
              </a:ext>
            </a:extLst>
          </p:cNvPr>
          <p:cNvCxnSpPr>
            <a:cxnSpLocks/>
            <a:stCxn id="19" idx="4"/>
            <a:endCxn id="22" idx="0"/>
          </p:cNvCxnSpPr>
          <p:nvPr/>
        </p:nvCxnSpPr>
        <p:spPr>
          <a:xfrm>
            <a:off x="3643883" y="2114151"/>
            <a:ext cx="6241" cy="196861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6BCBFA5-31C9-EBD0-EC20-4103A3818384}"/>
              </a:ext>
            </a:extLst>
          </p:cNvPr>
          <p:cNvCxnSpPr>
            <a:cxnSpLocks/>
            <a:stCxn id="18" idx="4"/>
            <a:endCxn id="23" idx="0"/>
          </p:cNvCxnSpPr>
          <p:nvPr/>
        </p:nvCxnSpPr>
        <p:spPr>
          <a:xfrm flipH="1">
            <a:off x="4791930" y="2114151"/>
            <a:ext cx="1" cy="199642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4E92332-652F-99F2-4929-913F296D85F7}"/>
              </a:ext>
            </a:extLst>
          </p:cNvPr>
          <p:cNvCxnSpPr>
            <a:cxnSpLocks/>
            <a:stCxn id="19" idx="0"/>
            <a:endCxn id="17" idx="4"/>
          </p:cNvCxnSpPr>
          <p:nvPr/>
        </p:nvCxnSpPr>
        <p:spPr>
          <a:xfrm flipV="1">
            <a:off x="3643883" y="1420761"/>
            <a:ext cx="576744" cy="309932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8A34CFB-8011-6D97-CB55-0AB76337BEEA}"/>
              </a:ext>
            </a:extLst>
          </p:cNvPr>
          <p:cNvCxnSpPr>
            <a:cxnSpLocks/>
            <a:stCxn id="17" idx="4"/>
            <a:endCxn id="18" idx="0"/>
          </p:cNvCxnSpPr>
          <p:nvPr/>
        </p:nvCxnSpPr>
        <p:spPr>
          <a:xfrm>
            <a:off x="4220627" y="1420761"/>
            <a:ext cx="571304" cy="309932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0" name="Picture 6">
            <a:extLst>
              <a:ext uri="{FF2B5EF4-FFF2-40B4-BE49-F238E27FC236}">
                <a16:creationId xmlns:a16="http://schemas.microsoft.com/office/drawing/2014/main" id="{10C43C80-2BA5-4000-75B5-44239322A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7917" y="3894588"/>
            <a:ext cx="808521" cy="751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328E31D1-37A4-DE7A-A361-2B99A5CD63F3}"/>
              </a:ext>
            </a:extLst>
          </p:cNvPr>
          <p:cNvSpPr/>
          <p:nvPr/>
        </p:nvSpPr>
        <p:spPr>
          <a:xfrm>
            <a:off x="11029594" y="4930878"/>
            <a:ext cx="749782" cy="6784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B050"/>
                </a:solidFill>
              </a:rPr>
              <a:t>WBS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982EBCD3-E3E4-F2C0-E93F-5665DBE48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4517" y="5270091"/>
            <a:ext cx="1066800" cy="107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7B9AC77C-53C3-36F8-32A3-C0D5101C8BB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676234" y="4710236"/>
            <a:ext cx="527322" cy="44128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4D59525C-0E54-18D9-E664-745FE0A42837}"/>
              </a:ext>
            </a:extLst>
          </p:cNvPr>
          <p:cNvCxnSpPr/>
          <p:nvPr/>
        </p:nvCxnSpPr>
        <p:spPr>
          <a:xfrm rot="16200000" flipH="1">
            <a:off x="10963689" y="4336386"/>
            <a:ext cx="506700" cy="37489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2" name="Connector: Curved 61">
            <a:extLst>
              <a:ext uri="{FF2B5EF4-FFF2-40B4-BE49-F238E27FC236}">
                <a16:creationId xmlns:a16="http://schemas.microsoft.com/office/drawing/2014/main" id="{17188FCB-2985-F6FD-4F71-ABCA04DD87F8}"/>
              </a:ext>
            </a:extLst>
          </p:cNvPr>
          <p:cNvCxnSpPr/>
          <p:nvPr/>
        </p:nvCxnSpPr>
        <p:spPr>
          <a:xfrm rot="10800000" flipV="1">
            <a:off x="10588310" y="5805871"/>
            <a:ext cx="905601" cy="40811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036" name="Picture 12" descr="Risk Assessment Matrix: How to Calculate &amp; Use a Risk Matrix Effectively">
            <a:extLst>
              <a:ext uri="{FF2B5EF4-FFF2-40B4-BE49-F238E27FC236}">
                <a16:creationId xmlns:a16="http://schemas.microsoft.com/office/drawing/2014/main" id="{37049278-4034-B0E3-284C-55AD271D61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9" r="15214"/>
          <a:stretch>
            <a:fillRect/>
          </a:stretch>
        </p:blipFill>
        <p:spPr bwMode="auto">
          <a:xfrm>
            <a:off x="2765844" y="3450549"/>
            <a:ext cx="2953411" cy="2422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Gantt chart (9 Rows) 2 | BioRender Science Templates">
            <a:extLst>
              <a:ext uri="{FF2B5EF4-FFF2-40B4-BE49-F238E27FC236}">
                <a16:creationId xmlns:a16="http://schemas.microsoft.com/office/drawing/2014/main" id="{AC213B48-8480-4AFF-FEEB-19D8664DC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7172" y="657615"/>
            <a:ext cx="2819304" cy="1974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9521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155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Agency FB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Gabriella Bonaretti</dc:creator>
  <cp:lastModifiedBy>Gabriella Bonaretti</cp:lastModifiedBy>
  <cp:revision>3</cp:revision>
  <dcterms:created xsi:type="dcterms:W3CDTF">2026-06-15T14:22:47Z</dcterms:created>
  <dcterms:modified xsi:type="dcterms:W3CDTF">2026-06-15T15:57:53Z</dcterms:modified>
</cp:coreProperties>
</file>